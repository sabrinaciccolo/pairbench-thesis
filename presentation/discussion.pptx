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9" d="100"/>
          <a:sy n="59" d="100"/>
        </p:scale>
        <p:origin x="9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0054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79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sabrina/pairbench-thesis/presentazione/loghi/units_bi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68866"/>
            <a:ext cx="2377440" cy="79962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154680" y="457200"/>
            <a:ext cx="0" cy="82296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1"/>
          <p:cNvSpPr txBox="1"/>
          <p:nvPr/>
        </p:nvSpPr>
        <p:spPr>
          <a:xfrm>
            <a:off x="3383280" y="384048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</a:t>
            </a:r>
            <a:endParaRPr lang="en-GB" sz="1800" dirty="0"/>
          </a:p>
          <a:p>
            <a:pPr marL="0" indent="0">
              <a:buNone/>
            </a:pPr>
            <a:r>
              <a:rPr lang="en-GB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Mathematics, Informatics</a:t>
            </a:r>
            <a:endParaRPr lang="en-GB" sz="1800" dirty="0"/>
          </a:p>
          <a:p>
            <a:pPr marL="0" indent="0">
              <a:buNone/>
            </a:pPr>
            <a:r>
              <a:rPr lang="en-GB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Geosciences</a:t>
            </a:r>
            <a:endParaRPr lang="en-GB" sz="1800" dirty="0"/>
          </a:p>
        </p:txBody>
      </p:sp>
      <p:pic>
        <p:nvPicPr>
          <p:cNvPr id="5" name="Image 1" descr="/home/sabrina/pairbench-thesis/presentazione/loghi/beantech_bian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3299" y="566928"/>
            <a:ext cx="2619756" cy="3840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899855" y="10241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GB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MV Business Unit</a:t>
            </a:r>
            <a:endParaRPr lang="en-GB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19659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GB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Bachelor's Degree in Artificial Intelligence and Data Analytics</a:t>
            </a:r>
            <a:endParaRPr lang="en-GB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2468880"/>
            <a:ext cx="1109441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Cross-View Association of Identical Parts Across Non-Overlapping 3D Scans: Identifiability, Shift Ambiguity and Evaluation</a:t>
            </a:r>
            <a:endParaRPr lang="en-GB" sz="40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49834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GB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</a:t>
            </a:r>
            <a:endParaRPr lang="en-GB" sz="2000" dirty="0"/>
          </a:p>
          <a:p>
            <a:pPr marL="0" indent="0">
              <a:buNone/>
            </a:pPr>
            <a:r>
              <a:rPr lang="en-GB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Sabrina Ciccolo</a:t>
            </a:r>
            <a:endParaRPr lang="en-GB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5699455" y="498348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GB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</a:t>
            </a:r>
            <a:endParaRPr lang="en-GB" sz="2000" dirty="0"/>
          </a:p>
          <a:p>
            <a:pPr marL="0" indent="0" algn="r">
              <a:buNone/>
            </a:pPr>
            <a:r>
              <a:rPr lang="en-GB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Alejandro Rodriguez Garcia</a:t>
            </a:r>
            <a:endParaRPr lang="en-GB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61722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GB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Year 2025/2026</a:t>
            </a:r>
            <a:endParaRPr lang="en-GB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3600" b="1" dirty="0">
                <a:solidFill>
                  <a:srgbClr val="3B79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rig</a:t>
            </a:r>
            <a:endParaRPr lang="en-GB" sz="3600" dirty="0"/>
          </a:p>
        </p:txBody>
      </p:sp>
      <p:sp>
        <p:nvSpPr>
          <p:cNvPr id="5" name="Text 1"/>
          <p:cNvSpPr txBox="1"/>
          <p:nvPr/>
        </p:nvSpPr>
        <p:spPr>
          <a:xfrm>
            <a:off x="11185855" y="6355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1600" dirty="0">
                <a:solidFill>
                  <a:srgbClr val="5E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GB" sz="16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2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3600" b="1" dirty="0">
                <a:solidFill>
                  <a:srgbClr val="3B79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scanners see</a:t>
            </a:r>
            <a:endParaRPr lang="en-GB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GB" sz="2400" dirty="0">
                <a:solidFill>
                  <a:srgbClr val="5E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clouds</a:t>
            </a:r>
            <a:endParaRPr lang="en-GB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0" y="13258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GB" sz="2400" dirty="0">
                <a:solidFill>
                  <a:srgbClr val="5E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 projections</a:t>
            </a:r>
            <a:endParaRPr lang="en-GB" sz="2400" dirty="0"/>
          </a:p>
        </p:txBody>
      </p:sp>
      <p:pic>
        <p:nvPicPr>
          <p:cNvPr id="5" name="Image 0" descr="/home/sabrina/pairbench-thesis/figure/slide/presentazione/nuvole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22098"/>
            <a:ext cx="5486400" cy="2602523"/>
          </a:xfrm>
          <a:prstGeom prst="rect">
            <a:avLst/>
          </a:prstGeom>
        </p:spPr>
      </p:pic>
      <p:pic>
        <p:nvPicPr>
          <p:cNvPr id="6" name="Image 1" descr="/home/sabrina/pairbench-thesis/figure/slide/presentazione/proiezione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034631"/>
            <a:ext cx="5212080" cy="1462857"/>
          </a:xfrm>
          <a:prstGeom prst="rect">
            <a:avLst/>
          </a:prstGeom>
        </p:spPr>
      </p:pic>
      <p:pic>
        <p:nvPicPr>
          <p:cNvPr id="7" name="Image 2" descr="/home/sabrina/pairbench-thesis/figure/slide/presentazione/proiezione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4229191"/>
            <a:ext cx="5212080" cy="1462857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6400800" y="3611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GB" sz="200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scanner 1</a:t>
            </a:r>
            <a:endParaRPr lang="en-GB" sz="2000" dirty="0"/>
          </a:p>
        </p:txBody>
      </p:sp>
      <p:sp>
        <p:nvSpPr>
          <p:cNvPr id="9" name="Text 4"/>
          <p:cNvSpPr txBox="1"/>
          <p:nvPr/>
        </p:nvSpPr>
        <p:spPr>
          <a:xfrm>
            <a:off x="6400800" y="5806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GB" sz="2000" b="1" dirty="0">
                <a:solidFill>
                  <a:srgbClr val="C050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scanner 2</a:t>
            </a:r>
            <a:endParaRPr lang="en-GB" sz="2000" dirty="0"/>
          </a:p>
        </p:txBody>
      </p:sp>
      <p:sp>
        <p:nvSpPr>
          <p:cNvPr id="11" name="Text 5"/>
          <p:cNvSpPr txBox="1"/>
          <p:nvPr/>
        </p:nvSpPr>
        <p:spPr>
          <a:xfrm>
            <a:off x="11185855" y="6355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1600" dirty="0">
                <a:solidFill>
                  <a:srgbClr val="5E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GB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3600" b="1" dirty="0">
                <a:solidFill>
                  <a:srgbClr val="3B79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GB" sz="3600" dirty="0"/>
          </a:p>
        </p:txBody>
      </p:sp>
      <p:sp>
        <p:nvSpPr>
          <p:cNvPr id="5" name="Text 1"/>
          <p:cNvSpPr txBox="1"/>
          <p:nvPr/>
        </p:nvSpPr>
        <p:spPr>
          <a:xfrm>
            <a:off x="11185855" y="6355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1600" dirty="0">
                <a:solidFill>
                  <a:srgbClr val="5E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GB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26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xit" presetSubtype="0" fill="hold" grpId="0" nodeType="withEffect">
                                  <p:stCondLst>
                                    <p:cond delay="14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0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  <p:bldLst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3600" b="1" dirty="0">
                <a:solidFill>
                  <a:srgbClr val="3B79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shift</a:t>
            </a:r>
            <a:endParaRPr lang="en-GB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GB" sz="2400" b="1" dirty="0">
                <a:solidFill>
                  <a:srgbClr val="C050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Pairing by order</a:t>
            </a:r>
            <a:endParaRPr lang="en-GB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309360" y="13716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GB" sz="2400" b="1" dirty="0">
                <a:solidFill>
                  <a:srgbClr val="3B79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pairing</a:t>
            </a:r>
            <a:endParaRPr lang="en-GB" sz="2400" dirty="0"/>
          </a:p>
        </p:txBody>
      </p:sp>
      <p:pic>
        <p:nvPicPr>
          <p:cNvPr id="5" name="Image 0" descr="/home/sabrina/pairbench-thesis/figure/slide/presentazione/shift_ord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65308"/>
            <a:ext cx="5486400" cy="2733225"/>
          </a:xfrm>
          <a:prstGeom prst="rect">
            <a:avLst/>
          </a:prstGeom>
        </p:spPr>
      </p:pic>
      <p:pic>
        <p:nvPicPr>
          <p:cNvPr id="6" name="Image 1" descr="/home/sabrina/pairbench-thesis/figure/slide/presentazione/shift_corrett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2565308"/>
            <a:ext cx="5486400" cy="273322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63640" y="5440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GB" sz="2400" b="1" dirty="0">
                <a:solidFill>
                  <a:srgbClr val="8A6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faces are left unpaired</a:t>
            </a:r>
            <a:endParaRPr lang="en-GB" sz="2400" dirty="0"/>
          </a:p>
        </p:txBody>
      </p:sp>
      <p:sp>
        <p:nvSpPr>
          <p:cNvPr id="9" name="Text 4"/>
          <p:cNvSpPr txBox="1"/>
          <p:nvPr/>
        </p:nvSpPr>
        <p:spPr>
          <a:xfrm>
            <a:off x="11185855" y="6355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1600" dirty="0">
                <a:solidFill>
                  <a:srgbClr val="5E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GB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3600" b="1" dirty="0">
                <a:solidFill>
                  <a:srgbClr val="3B79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of the art</a:t>
            </a:r>
            <a:endParaRPr lang="en-GB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GB" sz="2800" b="1" dirty="0">
                <a:solidFill>
                  <a:srgbClr val="1F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Geometry</a:t>
            </a:r>
            <a:endParaRPr lang="en-GB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GB" sz="2400" dirty="0">
                <a:solidFill>
                  <a:srgbClr val="5E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views see the same surface</a:t>
            </a:r>
            <a:endParaRPr lang="en-GB" sz="2400" dirty="0"/>
          </a:p>
        </p:txBody>
      </p:sp>
      <p:pic>
        <p:nvPicPr>
          <p:cNvPr id="5" name="Image 0" descr="/home/sabrina/pairbench-thesis/figure/slide/presentazione/stato_geometr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900" y="2468880"/>
            <a:ext cx="5207000" cy="3749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309360" y="132588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GB" sz="2800" b="1" dirty="0">
                <a:solidFill>
                  <a:srgbClr val="1F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Appearance</a:t>
            </a:r>
            <a:endParaRPr lang="en-GB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18288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GB" sz="2400" dirty="0">
                <a:solidFill>
                  <a:srgbClr val="5E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objects look different</a:t>
            </a:r>
            <a:endParaRPr lang="en-GB" sz="2400" dirty="0"/>
          </a:p>
        </p:txBody>
      </p:sp>
      <p:pic>
        <p:nvPicPr>
          <p:cNvPr id="8" name="Image 1" descr="/home/sabrina/pairbench-thesis/figure/slide/presentazione/stato_aspett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7620" y="2468880"/>
            <a:ext cx="5207000" cy="374904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1185855" y="6355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1600" dirty="0">
                <a:solidFill>
                  <a:srgbClr val="5E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GB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sabrina/pairbench-thesis/figure/slide/rig3d_intro_chiaro/intro_heavy-profile_laterale_carrelli_ass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3600" b="1" dirty="0">
                <a:solidFill>
                  <a:srgbClr val="3B79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reference frame</a:t>
            </a:r>
            <a:endParaRPr lang="en-GB" sz="3600" dirty="0"/>
          </a:p>
        </p:txBody>
      </p:sp>
      <p:sp>
        <p:nvSpPr>
          <p:cNvPr id="4" name="Shape 1"/>
          <p:cNvSpPr/>
          <p:nvPr/>
        </p:nvSpPr>
        <p:spPr>
          <a:xfrm>
            <a:off x="365760" y="5303520"/>
            <a:ext cx="10607040" cy="132588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 txBox="1"/>
          <p:nvPr/>
        </p:nvSpPr>
        <p:spPr>
          <a:xfrm>
            <a:off x="548640" y="5349240"/>
            <a:ext cx="5120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2000" b="1" dirty="0">
                <a:solidFill>
                  <a:srgbClr val="1F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r>
              <a:rPr lang="en-GB" sz="2000" dirty="0">
                <a:solidFill>
                  <a:srgbClr val="1F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along the bars: 4.9 m instead of 6</a:t>
            </a:r>
            <a:endParaRPr lang="en-GB" sz="2000" dirty="0"/>
          </a:p>
          <a:p>
            <a:pPr marL="0" indent="0">
              <a:buNone/>
            </a:pPr>
            <a:r>
              <a:rPr lang="en-GB" sz="2000" b="1" dirty="0">
                <a:solidFill>
                  <a:srgbClr val="1F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r>
              <a:rPr lang="en-GB" sz="2000" dirty="0">
                <a:solidFill>
                  <a:srgbClr val="1F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along the belt: estimated per scene</a:t>
            </a:r>
            <a:endParaRPr lang="en-GB" sz="2000" dirty="0"/>
          </a:p>
          <a:p>
            <a:pPr marL="0" indent="0">
              <a:buNone/>
            </a:pPr>
            <a:r>
              <a:rPr lang="en-GB" sz="2000" b="1" dirty="0">
                <a:solidFill>
                  <a:srgbClr val="1F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r>
              <a:rPr lang="en-GB" sz="2000" dirty="0">
                <a:solidFill>
                  <a:srgbClr val="1F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vertical: constant</a:t>
            </a:r>
            <a:endParaRPr lang="en-GB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852160" y="5349240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2000" b="1" dirty="0">
                <a:solidFill>
                  <a:srgbClr val="3B79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error below 1 mm</a:t>
            </a:r>
            <a:endParaRPr lang="en-GB" sz="2000" dirty="0"/>
          </a:p>
          <a:p>
            <a:pPr marL="0" indent="0">
              <a:buNone/>
            </a:pPr>
            <a:r>
              <a:rPr lang="en-GB" sz="2000" dirty="0">
                <a:solidFill>
                  <a:srgbClr val="1F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distance between the carriages can be recovered, the absolute position cannot</a:t>
            </a:r>
            <a:endParaRPr lang="en-GB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11185855" y="6355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1600" dirty="0">
                <a:solidFill>
                  <a:srgbClr val="5E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GB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3600" b="1" dirty="0">
                <a:solidFill>
                  <a:srgbClr val="3B79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bar profiles</a:t>
            </a:r>
            <a:endParaRPr lang="en-GB" sz="3600" dirty="0"/>
          </a:p>
        </p:txBody>
      </p:sp>
      <p:pic>
        <p:nvPicPr>
          <p:cNvPr id="3" name="Image 0" descr="/home/sabrina/pairbench-thesis/figure/slide/presentazione/profilo_l-pro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732406"/>
            <a:ext cx="2377440" cy="93598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709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GB" sz="2400" dirty="0">
                <a:solidFill>
                  <a:srgbClr val="1F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profile</a:t>
            </a:r>
            <a:endParaRPr lang="en-GB" sz="2400" dirty="0"/>
          </a:p>
        </p:txBody>
      </p:sp>
      <p:pic>
        <p:nvPicPr>
          <p:cNvPr id="5" name="Image 1" descr="/home/sabrina/pairbench-thesis/figure/slide/presentazione/profilo_square-prof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2011680"/>
            <a:ext cx="2377440" cy="23774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3291840" y="4709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GB" sz="2400" dirty="0">
                <a:solidFill>
                  <a:srgbClr val="1F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square profile</a:t>
            </a:r>
            <a:endParaRPr lang="en-GB" sz="2400" dirty="0"/>
          </a:p>
        </p:txBody>
      </p:sp>
      <p:pic>
        <p:nvPicPr>
          <p:cNvPr id="7" name="Image 2" descr="/home/sabrina/pairbench-thesis/figure/slide/presentazione/profilo_heavy-prof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2185385"/>
            <a:ext cx="2377440" cy="203003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6035040" y="4709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GB" sz="2400" dirty="0">
                <a:solidFill>
                  <a:srgbClr val="1F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profile</a:t>
            </a:r>
            <a:endParaRPr lang="en-GB" sz="2400" dirty="0"/>
          </a:p>
        </p:txBody>
      </p:sp>
      <p:pic>
        <p:nvPicPr>
          <p:cNvPr id="9" name="Image 3" descr="/home/sabrina/pairbench-thesis/figure/slide/presentazione/profilo_complex-profi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1120" y="2134747"/>
            <a:ext cx="2377440" cy="2131305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8778240" y="4709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GB" sz="2400" dirty="0">
                <a:solidFill>
                  <a:srgbClr val="1F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profile</a:t>
            </a:r>
            <a:endParaRPr lang="en-GB" sz="2400" dirty="0"/>
          </a:p>
        </p:txBody>
      </p:sp>
      <p:sp>
        <p:nvSpPr>
          <p:cNvPr id="12" name="Text 5"/>
          <p:cNvSpPr txBox="1"/>
          <p:nvPr/>
        </p:nvSpPr>
        <p:spPr>
          <a:xfrm>
            <a:off x="11185855" y="6355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1600" dirty="0">
                <a:solidFill>
                  <a:srgbClr val="5E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GB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3600" b="1" dirty="0">
                <a:solidFill>
                  <a:srgbClr val="3B79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the faces</a:t>
            </a:r>
            <a:endParaRPr lang="en-GB" sz="3600" dirty="0"/>
          </a:p>
        </p:txBody>
      </p:sp>
      <p:pic>
        <p:nvPicPr>
          <p:cNvPr id="3" name="Image 0" descr="/home/sabrina/pairbench-thesis/figure/slide/presentazione/template_sce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33274"/>
            <a:ext cx="11064240" cy="2225493"/>
          </a:xfrm>
          <a:prstGeom prst="rect">
            <a:avLst/>
          </a:prstGeom>
        </p:spPr>
      </p:pic>
      <p:pic>
        <p:nvPicPr>
          <p:cNvPr id="4" name="Image 1" descr="/home/sabrina/pairbench-thesis/figure/slide/presentazione/formula_templ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648" y="3853708"/>
            <a:ext cx="11182224" cy="2485521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11185855" y="6355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1600" dirty="0">
                <a:solidFill>
                  <a:srgbClr val="5E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GB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3600" b="1" dirty="0">
                <a:solidFill>
                  <a:srgbClr val="3B79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Selecting the faces</a:t>
            </a:r>
            <a:endParaRPr lang="en-GB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GB" sz="2400" b="1" dirty="0">
                <a:solidFill>
                  <a:srgbClr val="8A6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Candidates</a:t>
            </a:r>
            <a:endParaRPr lang="en-GB" sz="2400" dirty="0"/>
          </a:p>
        </p:txBody>
      </p:sp>
      <p:pic>
        <p:nvPicPr>
          <p:cNvPr id="4" name="Image 0" descr="/home/sabrina/pairbench-thesis/figure/slide/presentazione/candidat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9763" y="1783080"/>
            <a:ext cx="8701994" cy="1920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977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GB" sz="2400" b="1" dirty="0">
                <a:solidFill>
                  <a:srgbClr val="3B79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faces</a:t>
            </a:r>
            <a:endParaRPr lang="en-GB" sz="2400" dirty="0"/>
          </a:p>
        </p:txBody>
      </p:sp>
      <p:pic>
        <p:nvPicPr>
          <p:cNvPr id="6" name="Image 1" descr="/home/sabrina/pairbench-thesis/figure/slide/presentazione/selezion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9763" y="4480560"/>
            <a:ext cx="8701994" cy="192024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1185855" y="6355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1600" dirty="0">
                <a:solidFill>
                  <a:srgbClr val="5E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GB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3600" b="1" dirty="0">
                <a:solidFill>
                  <a:srgbClr val="3B79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cost function</a:t>
            </a:r>
            <a:endParaRPr lang="en-GB" sz="3600" dirty="0"/>
          </a:p>
        </p:txBody>
      </p:sp>
      <p:pic>
        <p:nvPicPr>
          <p:cNvPr id="3" name="Image 0" descr="/home/sabrina/pairbench-thesis/figure/slide/presentazione/formula_scelta_e_cos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539" y="1280160"/>
            <a:ext cx="11100617" cy="1102232"/>
          </a:xfrm>
          <a:prstGeom prst="rect">
            <a:avLst/>
          </a:prstGeom>
        </p:spPr>
      </p:pic>
      <p:pic>
        <p:nvPicPr>
          <p:cNvPr id="4" name="Image 1" descr="/home/sabrina/pairbench-thesis/figure/slide/presentazione/formula_costo_coppi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6691" y="2743200"/>
            <a:ext cx="6808137" cy="967715"/>
          </a:xfrm>
          <a:prstGeom prst="rect">
            <a:avLst/>
          </a:prstGeom>
        </p:spPr>
      </p:pic>
      <p:pic>
        <p:nvPicPr>
          <p:cNvPr id="5" name="Image 2" descr="/home/sabrina/pairbench-thesis/figure/slide/presentazione/costo_coppi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696982"/>
            <a:ext cx="5943600" cy="1167357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6675120" y="4160520"/>
            <a:ext cx="50292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GB" sz="2000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r>
              <a:rPr lang="en-GB" sz="2000" dirty="0">
                <a:solidFill>
                  <a:srgbClr val="C050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r>
              <a:rPr lang="en-GB" sz="2000" dirty="0">
                <a:solidFill>
                  <a:srgbClr val="1F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Centroids of the two faces</a:t>
            </a:r>
            <a:endParaRPr lang="en-GB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GB" sz="2000" b="1" dirty="0">
                <a:solidFill>
                  <a:srgbClr val="1F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Δθ</a:t>
            </a:r>
            <a:r>
              <a:rPr lang="en-GB" sz="2000" dirty="0">
                <a:solidFill>
                  <a:srgbClr val="1F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orientation difference</a:t>
            </a:r>
            <a:endParaRPr lang="en-GB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GB" sz="2000" b="1" i="1" dirty="0">
                <a:solidFill>
                  <a:srgbClr val="1F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r>
              <a:rPr lang="en-GB" sz="2000" dirty="0">
                <a:solidFill>
                  <a:srgbClr val="1F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distance between the centroids after realignment</a:t>
            </a:r>
            <a:endParaRPr lang="en-GB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GB" sz="2000" b="1" dirty="0">
                <a:solidFill>
                  <a:srgbClr val="1F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Height penalty</a:t>
            </a:r>
            <a:r>
              <a:rPr lang="en-GB" sz="2000" dirty="0">
                <a:solidFill>
                  <a:srgbClr val="1F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faces at different heights</a:t>
            </a:r>
            <a:endParaRPr lang="en-GB" sz="2000" dirty="0"/>
          </a:p>
        </p:txBody>
      </p:sp>
      <p:sp>
        <p:nvSpPr>
          <p:cNvPr id="8" name="Text 2"/>
          <p:cNvSpPr txBox="1"/>
          <p:nvPr/>
        </p:nvSpPr>
        <p:spPr>
          <a:xfrm>
            <a:off x="11185855" y="6355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1600" dirty="0">
                <a:solidFill>
                  <a:srgbClr val="5E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GB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3600" b="1" dirty="0">
                <a:solidFill>
                  <a:srgbClr val="3B79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ambiguity</a:t>
            </a:r>
            <a:endParaRPr lang="en-GB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GB" sz="2400" dirty="0">
                <a:solidFill>
                  <a:srgbClr val="5E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views do not see the same bars</a:t>
            </a:r>
            <a:endParaRPr lang="en-GB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202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2400" b="1" dirty="0">
                <a:solidFill>
                  <a:srgbClr val="1F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they arrive</a:t>
            </a:r>
            <a:endParaRPr lang="en-GB" sz="2400" dirty="0"/>
          </a:p>
        </p:txBody>
      </p:sp>
      <p:pic>
        <p:nvPicPr>
          <p:cNvPr id="5" name="Image 0" descr="/home/sabrina/pairbench-thesis/figure/slide/presentazione/ambig_b_arriv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1994713"/>
            <a:ext cx="6217920" cy="103977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324612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2400" b="1" dirty="0">
                <a:solidFill>
                  <a:srgbClr val="1F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pairing</a:t>
            </a:r>
            <a:endParaRPr lang="en-GB" sz="2400" dirty="0"/>
          </a:p>
        </p:txBody>
      </p:sp>
      <p:pic>
        <p:nvPicPr>
          <p:cNvPr id="7" name="Image 1" descr="/home/sabrina/pairbench-thesis/figure/slide/presentazione/ambig_b_ver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0" y="3320593"/>
            <a:ext cx="6217920" cy="103977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464040" y="32461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2400" b="1" dirty="0">
                <a:solidFill>
                  <a:srgbClr val="3B79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unpaired face</a:t>
            </a:r>
            <a:endParaRPr lang="en-GB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45720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2400" b="1" dirty="0">
                <a:solidFill>
                  <a:srgbClr val="1F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</a:t>
            </a:r>
            <a:endParaRPr lang="en-GB" sz="2400" dirty="0"/>
          </a:p>
        </p:txBody>
      </p:sp>
      <p:pic>
        <p:nvPicPr>
          <p:cNvPr id="10" name="Image 2" descr="/home/sabrina/pairbench-thesis/figure/slide/presentazione/ambig_b_shif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0" y="4646473"/>
            <a:ext cx="6217920" cy="103977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464040" y="457200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2400" b="1" dirty="0">
                <a:solidFill>
                  <a:srgbClr val="C050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unpaired face</a:t>
            </a:r>
            <a:endParaRPr lang="en-GB" sz="2400" dirty="0"/>
          </a:p>
        </p:txBody>
      </p:sp>
      <p:sp>
        <p:nvSpPr>
          <p:cNvPr id="12" name="Text 7"/>
          <p:cNvSpPr txBox="1"/>
          <p:nvPr/>
        </p:nvSpPr>
        <p:spPr>
          <a:xfrm>
            <a:off x="3108960" y="598932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GB" sz="2400" b="1" dirty="0">
                <a:solidFill>
                  <a:srgbClr val="8A6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Almost equal costs</a:t>
            </a:r>
            <a:endParaRPr lang="en-GB" sz="2400" dirty="0"/>
          </a:p>
        </p:txBody>
      </p:sp>
      <p:sp>
        <p:nvSpPr>
          <p:cNvPr id="14" name="Text 8"/>
          <p:cNvSpPr txBox="1"/>
          <p:nvPr/>
        </p:nvSpPr>
        <p:spPr>
          <a:xfrm>
            <a:off x="11185855" y="6355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1600" dirty="0">
                <a:solidFill>
                  <a:srgbClr val="5E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GB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3600" b="1" dirty="0">
                <a:solidFill>
                  <a:srgbClr val="3B79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</a:t>
            </a:r>
            <a:endParaRPr lang="en-GB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GB" sz="2400" dirty="0">
                <a:solidFill>
                  <a:srgbClr val="5E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scene seen from above</a:t>
            </a:r>
            <a:endParaRPr lang="en-GB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2560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2400" b="1" dirty="0">
                <a:solidFill>
                  <a:srgbClr val="1F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pairing</a:t>
            </a:r>
            <a:endParaRPr lang="en-GB" sz="2400" dirty="0"/>
          </a:p>
        </p:txBody>
      </p:sp>
      <p:pic>
        <p:nvPicPr>
          <p:cNvPr id="5" name="Image 0" descr="/home/sabrina/pairbench-thesis/figure/slide/presentazione/profondita_v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3355" y="1783080"/>
            <a:ext cx="4546169" cy="20116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778240" y="1783080"/>
            <a:ext cx="2834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2400" b="1" dirty="0">
                <a:solidFill>
                  <a:srgbClr val="3B79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lengths</a:t>
            </a:r>
            <a:endParaRPr lang="en-GB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886200"/>
            <a:ext cx="2560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2400" b="1" dirty="0">
                <a:solidFill>
                  <a:srgbClr val="1F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</a:t>
            </a:r>
            <a:endParaRPr lang="en-GB" sz="2400" dirty="0"/>
          </a:p>
        </p:txBody>
      </p:sp>
      <p:pic>
        <p:nvPicPr>
          <p:cNvPr id="8" name="Image 1" descr="/home/sabrina/pairbench-thesis/figure/slide/presentazione/profondita_shif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3355" y="3886200"/>
            <a:ext cx="4546169" cy="20116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778240" y="3886200"/>
            <a:ext cx="2834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2400" b="1" dirty="0">
                <a:solidFill>
                  <a:srgbClr val="C050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bar 17 mm shorter</a:t>
            </a:r>
            <a:endParaRPr lang="en-GB" sz="2400" dirty="0"/>
          </a:p>
        </p:txBody>
      </p:sp>
      <p:sp>
        <p:nvSpPr>
          <p:cNvPr id="10" name="Text 6"/>
          <p:cNvSpPr txBox="1"/>
          <p:nvPr/>
        </p:nvSpPr>
        <p:spPr>
          <a:xfrm>
            <a:off x="1371600" y="6035040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GB" sz="2400" b="1" dirty="0">
                <a:solidFill>
                  <a:srgbClr val="8A6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helps only if one bar sticks out from the others</a:t>
            </a:r>
            <a:endParaRPr lang="en-GB" sz="2400" dirty="0"/>
          </a:p>
        </p:txBody>
      </p:sp>
      <p:sp>
        <p:nvSpPr>
          <p:cNvPr id="12" name="Text 7"/>
          <p:cNvSpPr txBox="1"/>
          <p:nvPr/>
        </p:nvSpPr>
        <p:spPr>
          <a:xfrm>
            <a:off x="11185855" y="6355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1600" dirty="0">
                <a:solidFill>
                  <a:srgbClr val="5E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GB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3600" b="1" dirty="0">
                <a:solidFill>
                  <a:srgbClr val="3B79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twin</a:t>
            </a:r>
            <a:endParaRPr lang="en-GB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2400" b="1" dirty="0">
                <a:solidFill>
                  <a:srgbClr val="1F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scan</a:t>
            </a:r>
            <a:endParaRPr lang="en-GB" sz="2400" dirty="0"/>
          </a:p>
        </p:txBody>
      </p:sp>
      <p:pic>
        <p:nvPicPr>
          <p:cNvPr id="4" name="Image 0" descr="/home/sabrina/pairbench-thesis/figure/slide/presentazione/gemello_rea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1463040"/>
            <a:ext cx="7095744" cy="21945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11480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2400" b="1" dirty="0">
                <a:solidFill>
                  <a:srgbClr val="1F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twin</a:t>
            </a:r>
            <a:endParaRPr lang="en-GB" sz="2400" dirty="0"/>
          </a:p>
        </p:txBody>
      </p:sp>
      <p:pic>
        <p:nvPicPr>
          <p:cNvPr id="6" name="Image 1" descr="/home/sabrina/pairbench-thesis/figure/slide/presentazione/gemello_sinteti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4114800"/>
            <a:ext cx="7680960" cy="219456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1185855" y="6355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1600" dirty="0">
                <a:solidFill>
                  <a:srgbClr val="5E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GB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3600" b="1" dirty="0">
                <a:solidFill>
                  <a:srgbClr val="3B79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bar lying crosswise</a:t>
            </a:r>
            <a:endParaRPr lang="en-GB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GB" sz="2400" b="1" dirty="0">
                <a:solidFill>
                  <a:srgbClr val="1F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Hungarian algorithm</a:t>
            </a:r>
            <a:endParaRPr lang="en-GB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389120" y="118872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GB" sz="3200" b="1" dirty="0">
                <a:solidFill>
                  <a:srgbClr val="C050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of 4</a:t>
            </a:r>
            <a:endParaRPr lang="en-GB" sz="3200" dirty="0"/>
          </a:p>
        </p:txBody>
      </p:sp>
      <p:pic>
        <p:nvPicPr>
          <p:cNvPr id="5" name="Image 0" descr="/home/sabrina/pairbench-thesis/figure/slide/presentazione/metodi_unghere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317" y="2057400"/>
            <a:ext cx="3389886" cy="1783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263640" y="11887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GB" sz="2400" b="1" dirty="0">
                <a:solidFill>
                  <a:srgbClr val="1F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Monotonic alignment</a:t>
            </a:r>
            <a:endParaRPr lang="en-GB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10104120" y="118872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GB" sz="3200" b="1" dirty="0">
                <a:solidFill>
                  <a:srgbClr val="C050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of 4</a:t>
            </a:r>
            <a:endParaRPr lang="en-GB" sz="3200" dirty="0"/>
          </a:p>
        </p:txBody>
      </p:sp>
      <p:pic>
        <p:nvPicPr>
          <p:cNvPr id="8" name="Image 1" descr="/home/sabrina/pairbench-thesis/figure/slide/presentazione/metodi_monot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3317" y="2057400"/>
            <a:ext cx="3389886" cy="17830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39319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GB" sz="2400" b="1" dirty="0">
                <a:solidFill>
                  <a:srgbClr val="1F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system's heuristic</a:t>
            </a:r>
            <a:endParaRPr lang="en-GB" sz="2400" dirty="0"/>
          </a:p>
        </p:txBody>
      </p:sp>
      <p:sp>
        <p:nvSpPr>
          <p:cNvPr id="10" name="Text 6"/>
          <p:cNvSpPr txBox="1"/>
          <p:nvPr/>
        </p:nvSpPr>
        <p:spPr>
          <a:xfrm>
            <a:off x="4389120" y="393192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GB" sz="3200" b="1" dirty="0">
                <a:solidFill>
                  <a:srgbClr val="C050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of 4</a:t>
            </a:r>
            <a:endParaRPr lang="en-GB" sz="3200" dirty="0"/>
          </a:p>
        </p:txBody>
      </p:sp>
      <p:pic>
        <p:nvPicPr>
          <p:cNvPr id="11" name="Image 2" descr="/home/sabrina/pairbench-thesis/figure/slide/presentazione/metodi_euristic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317" y="4800600"/>
            <a:ext cx="3389886" cy="17830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263640" y="39319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GB" sz="2400" b="1" dirty="0">
                <a:solidFill>
                  <a:srgbClr val="1F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method</a:t>
            </a:r>
            <a:endParaRPr lang="en-GB" sz="2400" dirty="0"/>
          </a:p>
        </p:txBody>
      </p:sp>
      <p:sp>
        <p:nvSpPr>
          <p:cNvPr id="13" name="Text 8"/>
          <p:cNvSpPr txBox="1"/>
          <p:nvPr/>
        </p:nvSpPr>
        <p:spPr>
          <a:xfrm>
            <a:off x="10104120" y="393192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GB" sz="3200" b="1" dirty="0">
                <a:solidFill>
                  <a:srgbClr val="3B79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of 4</a:t>
            </a:r>
            <a:endParaRPr lang="en-GB" sz="3200" dirty="0"/>
          </a:p>
        </p:txBody>
      </p:sp>
      <p:pic>
        <p:nvPicPr>
          <p:cNvPr id="14" name="Image 3" descr="/home/sabrina/pairbench-thesis/figure/slide/presentazione/metodi_ibrid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3317" y="4800600"/>
            <a:ext cx="3389886" cy="178308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1185855" y="6355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1600" dirty="0">
                <a:solidFill>
                  <a:srgbClr val="5E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GB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3600" b="1" dirty="0">
                <a:solidFill>
                  <a:srgbClr val="3B79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GB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GB" sz="2400" dirty="0">
                <a:solidFill>
                  <a:srgbClr val="5E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method on the 108 real scenes</a:t>
            </a:r>
            <a:endParaRPr lang="en-GB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GB" sz="2600" b="1" dirty="0">
                <a:solidFill>
                  <a:srgbClr val="1F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pairs recovered</a:t>
            </a:r>
            <a:endParaRPr lang="en-GB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0604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8800" b="1" dirty="0">
                <a:solidFill>
                  <a:srgbClr val="3B79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92.9%</a:t>
            </a:r>
            <a:endParaRPr lang="en-GB" sz="8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776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GB" sz="2400" dirty="0">
                <a:solidFill>
                  <a:srgbClr val="8A6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against 83.5% for the original system's heuristic</a:t>
            </a:r>
            <a:endParaRPr lang="en-GB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20116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GB" sz="2600" b="1" dirty="0">
                <a:solidFill>
                  <a:srgbClr val="1F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Completely wrong scenes</a:t>
            </a:r>
            <a:endParaRPr lang="en-GB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260604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8800" b="1" dirty="0">
                <a:solidFill>
                  <a:srgbClr val="3B79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GB" sz="88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39776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GB" sz="2400" dirty="0">
                <a:solidFill>
                  <a:srgbClr val="8A6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against 14</a:t>
            </a:r>
            <a:endParaRPr lang="en-GB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6692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GB" sz="2000" dirty="0">
                <a:solidFill>
                  <a:srgbClr val="5E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5 wrong scenes are all shifts, in scenes where the views do not see the same bars</a:t>
            </a:r>
            <a:endParaRPr lang="en-GB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11185855" y="6355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1600" dirty="0">
                <a:solidFill>
                  <a:srgbClr val="5E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GB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3600" b="1" dirty="0">
                <a:solidFill>
                  <a:srgbClr val="3B79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</a:t>
            </a:r>
            <a:endParaRPr lang="en-GB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697480" cy="3703320"/>
          </a:xfrm>
          <a:prstGeom prst="rect">
            <a:avLst/>
          </a:prstGeom>
          <a:solidFill>
            <a:srgbClr val="FFFFFF"/>
          </a:solidFill>
          <a:ln w="25400">
            <a:solidFill>
              <a:srgbClr val="E4D8B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713232" y="12984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GB" sz="2400" b="1" dirty="0">
                <a:solidFill>
                  <a:srgbClr val="1F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</a:t>
            </a:r>
            <a:endParaRPr lang="en-GB" sz="2400" dirty="0"/>
          </a:p>
        </p:txBody>
      </p:sp>
      <p:pic>
        <p:nvPicPr>
          <p:cNvPr id="5" name="Image 0" descr="/home/sabrina/pairbench-thesis/figure/slide/rig3d_intro_chiaro/intro_heavy-profile_laterale_carrelli_senza_ro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120265"/>
            <a:ext cx="2377440" cy="133731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364992" y="1188720"/>
            <a:ext cx="2697480" cy="3703320"/>
          </a:xfrm>
          <a:prstGeom prst="rect">
            <a:avLst/>
          </a:prstGeom>
          <a:solidFill>
            <a:srgbClr val="FFFFFF"/>
          </a:solidFill>
          <a:ln w="25400">
            <a:solidFill>
              <a:srgbClr val="E4D8B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 txBox="1"/>
          <p:nvPr/>
        </p:nvSpPr>
        <p:spPr>
          <a:xfrm>
            <a:off x="3529584" y="12984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GB" sz="2400" b="1" dirty="0">
                <a:solidFill>
                  <a:srgbClr val="1F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ambiguity</a:t>
            </a:r>
            <a:endParaRPr lang="en-GB" sz="2400" dirty="0"/>
          </a:p>
        </p:txBody>
      </p:sp>
      <p:pic>
        <p:nvPicPr>
          <p:cNvPr id="8" name="Image 1" descr="/home/sabrina/pairbench-thesis/figure/slide/presentazione/shift_ord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9584" y="2196721"/>
            <a:ext cx="2377440" cy="118439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529584" y="384048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GB" sz="2000" b="1" dirty="0">
                <a:solidFill>
                  <a:srgbClr val="C050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bar paired with its neighbour</a:t>
            </a:r>
            <a:endParaRPr lang="en-GB" sz="2000" dirty="0"/>
          </a:p>
        </p:txBody>
      </p:sp>
      <p:sp>
        <p:nvSpPr>
          <p:cNvPr id="10" name="Shape 6"/>
          <p:cNvSpPr/>
          <p:nvPr/>
        </p:nvSpPr>
        <p:spPr>
          <a:xfrm>
            <a:off x="6181344" y="1188720"/>
            <a:ext cx="2697480" cy="3703320"/>
          </a:xfrm>
          <a:prstGeom prst="rect">
            <a:avLst/>
          </a:prstGeom>
          <a:solidFill>
            <a:srgbClr val="FFFFFF"/>
          </a:solidFill>
          <a:ln w="25400">
            <a:solidFill>
              <a:srgbClr val="E4D8B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7"/>
          <p:cNvSpPr txBox="1"/>
          <p:nvPr/>
        </p:nvSpPr>
        <p:spPr>
          <a:xfrm>
            <a:off x="6345936" y="12984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GB" sz="2400" b="1" dirty="0">
                <a:solidFill>
                  <a:srgbClr val="1F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method</a:t>
            </a:r>
            <a:endParaRPr lang="en-GB" sz="2400" dirty="0"/>
          </a:p>
        </p:txBody>
      </p:sp>
      <p:pic>
        <p:nvPicPr>
          <p:cNvPr id="12" name="Image 2" descr="/home/sabrina/pairbench-thesis/figure/slide/presentazione/metodi_ibrid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5936" y="2163653"/>
            <a:ext cx="2377440" cy="125053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345936" y="384048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GB" sz="2000" b="1" dirty="0">
                <a:solidFill>
                  <a:srgbClr val="3B79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Crosswise bar:</a:t>
            </a:r>
            <a:endParaRPr lang="en-GB" sz="2000" dirty="0"/>
          </a:p>
          <a:p>
            <a:pPr marL="0" indent="0" algn="ctr">
              <a:buNone/>
            </a:pPr>
            <a:r>
              <a:rPr lang="en-GB" sz="2000" b="1" dirty="0">
                <a:solidFill>
                  <a:srgbClr val="3B79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of 4</a:t>
            </a:r>
            <a:endParaRPr lang="en-GB" sz="2000" dirty="0"/>
          </a:p>
        </p:txBody>
      </p:sp>
      <p:sp>
        <p:nvSpPr>
          <p:cNvPr id="14" name="Shape 9"/>
          <p:cNvSpPr/>
          <p:nvPr/>
        </p:nvSpPr>
        <p:spPr>
          <a:xfrm>
            <a:off x="8997696" y="1188720"/>
            <a:ext cx="2697480" cy="3703320"/>
          </a:xfrm>
          <a:prstGeom prst="rect">
            <a:avLst/>
          </a:prstGeom>
          <a:solidFill>
            <a:srgbClr val="FFFFFF"/>
          </a:solidFill>
          <a:ln w="25400">
            <a:solidFill>
              <a:srgbClr val="E4D8B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0"/>
          <p:cNvSpPr txBox="1"/>
          <p:nvPr/>
        </p:nvSpPr>
        <p:spPr>
          <a:xfrm>
            <a:off x="9162288" y="12984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GB" sz="2400" b="1" dirty="0">
                <a:solidFill>
                  <a:srgbClr val="1F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GB" sz="2400" dirty="0"/>
          </a:p>
        </p:txBody>
      </p:sp>
      <p:sp>
        <p:nvSpPr>
          <p:cNvPr id="16" name="Text 11"/>
          <p:cNvSpPr txBox="1"/>
          <p:nvPr/>
        </p:nvSpPr>
        <p:spPr>
          <a:xfrm>
            <a:off x="9162288" y="17830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GB" sz="3600" b="1" dirty="0">
                <a:solidFill>
                  <a:srgbClr val="3B79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92.9%</a:t>
            </a:r>
            <a:endParaRPr lang="en-GB" sz="3600" dirty="0"/>
          </a:p>
        </p:txBody>
      </p:sp>
      <p:sp>
        <p:nvSpPr>
          <p:cNvPr id="17" name="Text 12"/>
          <p:cNvSpPr txBox="1"/>
          <p:nvPr/>
        </p:nvSpPr>
        <p:spPr>
          <a:xfrm>
            <a:off x="9162288" y="233172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GB" sz="1800" dirty="0">
                <a:solidFill>
                  <a:srgbClr val="1F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true pairs, against 83.5% for the original system's heuristic</a:t>
            </a:r>
            <a:endParaRPr lang="en-GB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9162288" y="3566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GB" sz="3600" b="1" dirty="0">
                <a:solidFill>
                  <a:srgbClr val="3B79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GB" sz="3600" dirty="0"/>
          </a:p>
        </p:txBody>
      </p:sp>
      <p:sp>
        <p:nvSpPr>
          <p:cNvPr id="19" name="Text 14"/>
          <p:cNvSpPr txBox="1"/>
          <p:nvPr/>
        </p:nvSpPr>
        <p:spPr>
          <a:xfrm>
            <a:off x="9162288" y="404164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GB" sz="1800" dirty="0">
                <a:solidFill>
                  <a:srgbClr val="1F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completely wrong scenes, against 14</a:t>
            </a:r>
            <a:endParaRPr lang="en-GB" sz="1800" dirty="0"/>
          </a:p>
        </p:txBody>
      </p:sp>
      <p:sp>
        <p:nvSpPr>
          <p:cNvPr id="20" name="Shape 15"/>
          <p:cNvSpPr/>
          <p:nvPr/>
        </p:nvSpPr>
        <p:spPr>
          <a:xfrm>
            <a:off x="548640" y="5029200"/>
            <a:ext cx="10515600" cy="1463040"/>
          </a:xfrm>
          <a:prstGeom prst="rect">
            <a:avLst/>
          </a:prstGeom>
          <a:solidFill>
            <a:srgbClr val="E4D8B9"/>
          </a:solidFill>
          <a:ln w="12700">
            <a:solidFill>
              <a:srgbClr val="E4D8B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6"/>
          <p:cNvSpPr txBox="1"/>
          <p:nvPr/>
        </p:nvSpPr>
        <p:spPr>
          <a:xfrm>
            <a:off x="777240" y="50292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GB" sz="2000" b="1" dirty="0">
                <a:solidFill>
                  <a:srgbClr val="1F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GB" sz="20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GB" sz="2000" dirty="0">
                <a:solidFill>
                  <a:srgbClr val="1F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these analyses to design new rigs, for example to choose how wide the scan window must be</a:t>
            </a:r>
            <a:endParaRPr lang="en-GB" sz="20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GB" sz="2000" dirty="0">
                <a:solidFill>
                  <a:srgbClr val="1F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 the scenes at risk of a shift instead of pairing them automatically</a:t>
            </a:r>
            <a:endParaRPr lang="en-GB" sz="2000" dirty="0"/>
          </a:p>
        </p:txBody>
      </p:sp>
      <p:sp>
        <p:nvSpPr>
          <p:cNvPr id="23" name="Text 17"/>
          <p:cNvSpPr txBox="1"/>
          <p:nvPr/>
        </p:nvSpPr>
        <p:spPr>
          <a:xfrm>
            <a:off x="11185855" y="6355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1600" dirty="0">
                <a:solidFill>
                  <a:srgbClr val="5E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GB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3B79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3774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for your attention</a:t>
            </a:r>
            <a:endParaRPr lang="en-GB" sz="4400" dirty="0"/>
          </a:p>
        </p:txBody>
      </p:sp>
      <p:pic>
        <p:nvPicPr>
          <p:cNvPr id="3" name="Image 0" descr="/home/sabrina/pairbench-thesis/presentazione/loghi/units_bi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597401"/>
            <a:ext cx="2194560" cy="738119"/>
          </a:xfrm>
          <a:prstGeom prst="rect">
            <a:avLst/>
          </a:prstGeom>
        </p:spPr>
      </p:pic>
      <p:pic>
        <p:nvPicPr>
          <p:cNvPr id="4" name="Image 1" descr="/home/sabrina/pairbench-thesis/presentazione/loghi/beantech_bian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8049" y="5760720"/>
            <a:ext cx="2495006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2904</Words>
  <Application>Microsoft Office PowerPoint</Application>
  <PresentationFormat>Widescreen</PresentationFormat>
  <Paragraphs>151</Paragraphs>
  <Slides>18</Slides>
  <Notes>18</Notes>
  <HiddenSlides>0</HiddenSlides>
  <MMClips>2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Cross-View Association of Identical Parts Across Non-Overlapping 3D Scans</dc:title>
  <dc:subject>PptxGenJS Presentation</dc:subject>
  <dc:creator>Sabrina Ciccolo</dc:creator>
  <cp:lastModifiedBy>Sabrina Ciccolo</cp:lastModifiedBy>
  <cp:revision>1</cp:revision>
  <dcterms:created xsi:type="dcterms:W3CDTF">2026-09-29T14:02:11Z</dcterms:created>
  <dcterms:modified xsi:type="dcterms:W3CDTF">2026-09-29T16:37:45Z</dcterms:modified>
</cp:coreProperties>
</file>